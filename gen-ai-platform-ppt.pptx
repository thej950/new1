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67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7578-E2E4-F8A6-2262-FE2F28D0F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B5805-08DB-7A7B-1AFF-9ECB52CD0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D2385-4C17-AAF3-A365-268B959B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FFF1-10FC-54B7-2C0D-AE6AC3DA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EA739-EEB4-C74D-C099-0D6FB0AC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5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76FF-A973-E2D6-0A37-4F6FB6D5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83F4A-0B08-6BDA-F3EB-420C11F1D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3DDFA-DB0C-7461-6A0C-56D0A8E0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87720-D4CB-7459-BAC4-D7144F36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BAE65-FB5B-8A9D-24C1-6B2C4680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28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67FB-B885-746F-79DD-32E6304B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D5EE7-62E9-6C77-D33D-17B7517E0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90C4-59EF-BB2B-EEBC-BBB82F5D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5FEEF-8956-574F-AE09-3E415581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704C4-C6DD-DFA1-E678-123DCF1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4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0F26-7F4B-DEDC-D417-2DC9DDDA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1249-9999-6795-C780-69A282929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2F83F-B6D3-E528-EB58-A141C81C0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F7EED-089F-D78C-AAA0-AFC540C0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FE716-F7BD-9CBA-96D2-ECE8DED0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0A273-16CF-4934-25BE-B6826594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2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00FC-F6C5-3840-888A-834212F3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BCCBC-0DDF-5F07-188E-D14962BDA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5D0A-C312-D67F-F766-9B262C954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6DA7B-D6D8-6AC7-6085-727E06140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BFD76-9F09-ACFB-30B6-B28A2389B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AF143-6247-1A20-7871-E62640AA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12A8C-C6F9-A81C-73E4-2FA6C4DD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0B073-B355-6C65-FDAF-6C41E9F3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49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4D02-3FBC-43ED-90A8-D2C16773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2C171-D937-0DC0-B7B2-993F7ECE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F9F04-6793-8A07-E06A-4B5068F1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C4C47-FEE2-5662-2087-BF51E0DC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62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E9C96-FBFD-1991-68E0-D22F0554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FED93-8FF5-640F-BC4C-5DEAA933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C32E3-CCC5-FD49-2CF2-14B1134A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89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1E78-4CFB-C19A-B15C-A87600BF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A2E9-8D24-A79D-B271-B5E63D047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49572-122A-CBAB-069F-C537431F1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23349-1AE8-A161-F26C-20E8052C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C8D14-E774-AE45-9E1C-37538F26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1231D-CBEE-D012-90BA-D6371A47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7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4143-1168-1E16-020E-8A39EE33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26C5C-9265-B903-4641-807A44766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9B554-6240-5518-C005-5F0DFB3E7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9480F-7DEC-E269-D277-CB707395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6D4B-D26F-A25C-BFF1-8E4C0CC3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DA936-922E-19B5-0FCF-AD0C9E7D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48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F1DF-F9B7-56F1-2F89-929E351B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B15FC-8223-40BD-C5ED-6AF88EEAD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A28FE-0A88-B44A-8967-00380394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AB3B3-866C-1897-7CDF-2F1DF0A4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CE8F2-097E-9836-1944-8094B2E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89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5376E-1D06-1B04-2609-8F98DA770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16B48-03DD-EFD6-DE14-098183E5B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9BD81-4942-BF30-5CF4-963411206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1F2B3-60C8-5CCF-4912-F126E184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D6AD7-0CFB-BAE8-EA3C-87D64345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8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E22FC-0E1F-84A7-2387-54BF97A3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5E50C-5EA4-59AA-14CD-B45D1FA77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9C76F-647B-EFD0-2937-FE56E5B19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916DC-88B9-4F0B-9333-5CA147E53E6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21467-04A3-A1C8-EA87-B4F0CCB4E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739CC-BC94-4345-B654-7C3CF6D6D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B0183-E7C4-4605-996E-04E96109C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57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CE75B-EB25-AB65-EFB8-A3DB0AE9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66A7B0-9CA4-ED99-F2B1-878A5337C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60D0A-1238-198B-989B-542C22F4E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153"/>
            <a:ext cx="12771120" cy="7720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6CFC95-2992-5671-7E4A-DA64C8CB8D09}"/>
              </a:ext>
            </a:extLst>
          </p:cNvPr>
          <p:cNvSpPr txBox="1"/>
          <p:nvPr/>
        </p:nvSpPr>
        <p:spPr>
          <a:xfrm>
            <a:off x="0" y="-256153"/>
            <a:ext cx="126034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Enterprise Agentic AI Platform using RAG</a:t>
            </a:r>
          </a:p>
          <a:p>
            <a:endParaRPr lang="en-IN" sz="2800" dirty="0"/>
          </a:p>
          <a:p>
            <a:r>
              <a:rPr lang="en-IN" sz="2800" b="1" dirty="0"/>
              <a:t>Subtitle</a:t>
            </a: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Document Intelligence Platform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Built using Python, </a:t>
            </a:r>
            <a:r>
              <a:rPr lang="en-IN" sz="2800" dirty="0" err="1"/>
              <a:t>FastAPI</a:t>
            </a:r>
            <a:r>
              <a:rPr lang="en-IN" sz="2800" dirty="0"/>
              <a:t>, FAISS and Agentic AI</a:t>
            </a:r>
          </a:p>
          <a:p>
            <a:endParaRPr lang="en-IN" sz="2800" dirty="0"/>
          </a:p>
          <a:p>
            <a:r>
              <a:rPr lang="en-IN" sz="2800" b="1" dirty="0"/>
              <a:t>Project Goals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Build a RAG-based document chatbot.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Enable semantic document search.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Implement specialized AI agents.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Design a modular enterprise architecture. 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1287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B225F-AB7D-741C-E736-AB7625875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0"/>
          <a:stretch>
            <a:fillRect/>
          </a:stretch>
        </p:blipFill>
        <p:spPr>
          <a:xfrm>
            <a:off x="-1" y="0"/>
            <a:ext cx="1258088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8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8F37E-6D19-7987-FD65-D0BCD3C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A4E7F6C-FDF3-813A-886C-2AE5E42E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FE13C-B5C5-2250-7877-EDFCECCCC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153"/>
            <a:ext cx="12771120" cy="77203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DBF60F-89B1-76E7-1B81-AE26A6AB7BF5}"/>
              </a:ext>
            </a:extLst>
          </p:cNvPr>
          <p:cNvSpPr txBox="1"/>
          <p:nvPr/>
        </p:nvSpPr>
        <p:spPr>
          <a:xfrm>
            <a:off x="236220" y="171300"/>
            <a:ext cx="74447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Project Setup</a:t>
            </a:r>
          </a:p>
          <a:p>
            <a:r>
              <a:rPr lang="en-IN" sz="2600" dirty="0"/>
              <a:t>Create and activate a virtual environment:</a:t>
            </a:r>
          </a:p>
          <a:p>
            <a:pPr lvl="1"/>
            <a:r>
              <a:rPr lang="en-IN" sz="2600" dirty="0"/>
              <a:t>python -m </a:t>
            </a:r>
            <a:r>
              <a:rPr lang="en-IN" sz="2600" dirty="0" err="1"/>
              <a:t>venv</a:t>
            </a:r>
            <a:r>
              <a:rPr lang="en-IN" sz="2600" dirty="0"/>
              <a:t> .</a:t>
            </a:r>
            <a:r>
              <a:rPr lang="en-IN" sz="2600" dirty="0" err="1"/>
              <a:t>venv</a:t>
            </a:r>
            <a:endParaRPr lang="en-IN" sz="2600" dirty="0"/>
          </a:p>
          <a:p>
            <a:pPr lvl="1"/>
            <a:r>
              <a:rPr lang="en-IN" sz="2600" dirty="0"/>
              <a:t>.</a:t>
            </a:r>
            <a:r>
              <a:rPr lang="en-IN" sz="2600" dirty="0" err="1"/>
              <a:t>venv</a:t>
            </a:r>
            <a:r>
              <a:rPr lang="en-IN" sz="2600" dirty="0"/>
              <a:t>\Scripts\activate</a:t>
            </a:r>
          </a:p>
          <a:p>
            <a:endParaRPr lang="en-IN" sz="2800" b="1" dirty="0"/>
          </a:p>
          <a:p>
            <a:r>
              <a:rPr lang="en-IN" sz="2800" b="1" dirty="0"/>
              <a:t>Install Packages</a:t>
            </a:r>
          </a:p>
          <a:p>
            <a:r>
              <a:rPr lang="en-IN" sz="2600" dirty="0"/>
              <a:t>pip install </a:t>
            </a:r>
            <a:r>
              <a:rPr lang="en-IN" sz="2600" dirty="0" err="1"/>
              <a:t>fastapi</a:t>
            </a:r>
            <a:r>
              <a:rPr lang="en-IN" sz="2600" dirty="0"/>
              <a:t> </a:t>
            </a:r>
            <a:r>
              <a:rPr lang="en-IN" sz="2600" dirty="0" err="1"/>
              <a:t>uvicorn</a:t>
            </a:r>
            <a:r>
              <a:rPr lang="en-IN" sz="2600" dirty="0"/>
              <a:t> boto3 python-</a:t>
            </a:r>
            <a:r>
              <a:rPr lang="en-IN" sz="2600" dirty="0" err="1"/>
              <a:t>dotenv</a:t>
            </a:r>
            <a:endParaRPr lang="en-IN" sz="2600" dirty="0"/>
          </a:p>
          <a:p>
            <a:r>
              <a:rPr lang="en-IN" sz="2600" dirty="0"/>
              <a:t>pip freeze &gt; requirements.txt</a:t>
            </a:r>
          </a:p>
          <a:p>
            <a:endParaRPr lang="en-IN" sz="2800" dirty="0"/>
          </a:p>
          <a:p>
            <a:r>
              <a:rPr lang="en-IN" sz="2800" dirty="0"/>
              <a:t>Create a .env file in the project root with the following values:</a:t>
            </a:r>
          </a:p>
          <a:p>
            <a:r>
              <a:rPr lang="en-IN" sz="2800" dirty="0"/>
              <a:t>   </a:t>
            </a:r>
            <a:r>
              <a:rPr lang="en-IN" sz="2600" dirty="0"/>
              <a:t>AWS_REGION=your-</a:t>
            </a:r>
            <a:r>
              <a:rPr lang="en-IN" sz="2600" dirty="0" err="1"/>
              <a:t>aws</a:t>
            </a:r>
            <a:r>
              <a:rPr lang="en-IN" sz="2600" dirty="0"/>
              <a:t>-region</a:t>
            </a:r>
          </a:p>
          <a:p>
            <a:r>
              <a:rPr lang="en-IN" sz="2600" dirty="0"/>
              <a:t>   MODEL_ID=your-bedrock-model-id</a:t>
            </a:r>
          </a:p>
          <a:p>
            <a:r>
              <a:rPr lang="en-IN" sz="2600" dirty="0"/>
              <a:t>   USE_MOCK=true</a:t>
            </a:r>
          </a:p>
          <a:p>
            <a:r>
              <a:rPr lang="en-IN" sz="2600" dirty="0"/>
              <a:t>   S3_BUCKET=your-s3-bucket-name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A7F18-6934-D8E9-9AEC-A54995717E54}"/>
              </a:ext>
            </a:extLst>
          </p:cNvPr>
          <p:cNvSpPr txBox="1"/>
          <p:nvPr/>
        </p:nvSpPr>
        <p:spPr>
          <a:xfrm>
            <a:off x="7680960" y="171300"/>
            <a:ext cx="6492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Run the application   </a:t>
            </a:r>
            <a:endParaRPr lang="en-IN" sz="2800" dirty="0"/>
          </a:p>
          <a:p>
            <a:r>
              <a:rPr lang="en-US" sz="2600" dirty="0" err="1"/>
              <a:t>uvicorn</a:t>
            </a:r>
            <a:r>
              <a:rPr lang="en-US" sz="2600" dirty="0"/>
              <a:t> </a:t>
            </a:r>
            <a:r>
              <a:rPr lang="en-US" sz="2600" dirty="0" err="1"/>
              <a:t>app.main:app</a:t>
            </a:r>
            <a:r>
              <a:rPr lang="en-US" sz="2600" dirty="0"/>
              <a:t> --reload</a:t>
            </a:r>
            <a:endParaRPr lang="en-IN" sz="2600" dirty="0"/>
          </a:p>
          <a:p>
            <a:endParaRPr lang="en-IN" sz="2800" dirty="0"/>
          </a:p>
          <a:p>
            <a:endParaRPr lang="en-IN" sz="2800" b="1" dirty="0"/>
          </a:p>
          <a:p>
            <a:r>
              <a:rPr lang="en-IN" sz="2800" b="1" dirty="0"/>
              <a:t>Swagger UI:</a:t>
            </a:r>
          </a:p>
          <a:p>
            <a:r>
              <a:rPr lang="en-IN" sz="2600" dirty="0"/>
              <a:t>http://127.0.0.1:8000/docs</a:t>
            </a:r>
          </a:p>
        </p:txBody>
      </p:sp>
    </p:spTree>
    <p:extLst>
      <p:ext uri="{BB962C8B-B14F-4D97-AF65-F5344CB8AC3E}">
        <p14:creationId xmlns:p14="http://schemas.microsoft.com/office/powerpoint/2010/main" val="163459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B4EEB-C699-5A54-B3A5-E56C9D23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8EDD5ED-BDF8-4777-B795-B81752089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B15D0-5887-11BC-AA93-2336CE80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153"/>
            <a:ext cx="12771120" cy="77203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8CCF58-FBF8-39EF-CBB2-5FD56965219A}"/>
              </a:ext>
            </a:extLst>
          </p:cNvPr>
          <p:cNvSpPr txBox="1"/>
          <p:nvPr/>
        </p:nvSpPr>
        <p:spPr>
          <a:xfrm>
            <a:off x="137160" y="0"/>
            <a:ext cx="12390120" cy="8186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How the Project Works</a:t>
            </a:r>
          </a:p>
          <a:p>
            <a:pPr marL="342900" indent="-342900">
              <a:buAutoNum type="arabicPeriod"/>
            </a:pPr>
            <a:r>
              <a:rPr lang="en-IN" b="1" dirty="0"/>
              <a:t>Document Upload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/upload</a:t>
            </a:r>
            <a:r>
              <a:rPr lang="en-IN" dirty="0"/>
              <a:t> endpoint receives a PDF document from the user and stores it in the local upload directory.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2. Document Processing for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Once the document is uploaded, the application processes it through the RAG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3. Agent-Based Query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/agent-chat</a:t>
            </a:r>
            <a:r>
              <a:rPr lang="en-IN" dirty="0"/>
              <a:t> endpoint receives the user's question and forwards it to the Agent Orchestrator.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4. Semantic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After the appropriate agent is selected, the Retrieval Service performs semantic search.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5. Prompt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retrieved document context is combined with the user's question to build a structured RAG prompt.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6. LLM Integration</a:t>
            </a:r>
          </a:p>
          <a:p>
            <a:pPr lvl="1"/>
            <a:r>
              <a:rPr lang="en-IN" dirty="0"/>
              <a:t>The generated prompt is sent to the Language Model layer.</a:t>
            </a:r>
          </a:p>
          <a:p>
            <a:pPr lvl="1"/>
            <a:r>
              <a:rPr lang="en-IN" b="1" dirty="0"/>
              <a:t>Current Implementation</a:t>
            </a:r>
          </a:p>
          <a:p>
            <a:pPr lvl="1"/>
            <a:r>
              <a:rPr lang="en-IN" dirty="0"/>
              <a:t>When</a:t>
            </a:r>
          </a:p>
          <a:p>
            <a:pPr lvl="1"/>
            <a:r>
              <a:rPr lang="en-IN" dirty="0">
                <a:latin typeface="Courier New" panose="02070309020205020404" pitchFamily="49" charset="0"/>
              </a:rPr>
              <a:t>USE_MOCK_LLM=true</a:t>
            </a:r>
          </a:p>
          <a:p>
            <a:pPr lvl="1"/>
            <a:r>
              <a:rPr lang="en-IN" dirty="0"/>
              <a:t>the application returns responses using a Mock LLM for local development.</a:t>
            </a:r>
          </a:p>
          <a:p>
            <a:pPr lvl="1"/>
            <a:r>
              <a:rPr lang="en-IN" b="1" dirty="0"/>
              <a:t>Future Implementation</a:t>
            </a:r>
          </a:p>
          <a:p>
            <a:pPr lvl="1"/>
            <a:r>
              <a:rPr lang="en-IN" dirty="0"/>
              <a:t>When</a:t>
            </a:r>
          </a:p>
          <a:p>
            <a:pPr lvl="1"/>
            <a:r>
              <a:rPr lang="en-IN" dirty="0">
                <a:latin typeface="Courier New" panose="02070309020205020404" pitchFamily="49" charset="0"/>
              </a:rPr>
              <a:t>USE_MOCK_LLM=false</a:t>
            </a:r>
          </a:p>
          <a:p>
            <a:pPr lvl="1"/>
            <a:r>
              <a:rPr lang="en-IN" dirty="0"/>
              <a:t>the same prompt will be sent to </a:t>
            </a:r>
            <a:r>
              <a:rPr lang="en-IN" b="1" dirty="0"/>
              <a:t>Amazon Bedrock</a:t>
            </a:r>
            <a:r>
              <a:rPr lang="en-IN" dirty="0"/>
              <a:t> using the Bedrock Runtime API.</a:t>
            </a:r>
          </a:p>
          <a:p>
            <a:pPr>
              <a:buNone/>
            </a:pPr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71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54E63-B488-5A33-5CAB-A15ECF64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A10A4A0-5E86-11D7-3B8F-9D6DA3640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03F1A0-E8D6-4A38-BAC7-8630BAF4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153"/>
            <a:ext cx="12771120" cy="77203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34562-F537-AC8C-9DAC-A3E687C90E83}"/>
              </a:ext>
            </a:extLst>
          </p:cNvPr>
          <p:cNvSpPr txBox="1"/>
          <p:nvPr/>
        </p:nvSpPr>
        <p:spPr>
          <a:xfrm>
            <a:off x="137160" y="0"/>
            <a:ext cx="12390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>
              <a:buNone/>
            </a:pPr>
            <a:r>
              <a:rPr lang="en-IN" b="1" dirty="0"/>
              <a:t>7. Agent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Agent Orchestrator acts as the central decision-making component.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51DE4-AFC5-F89D-649B-27B030B31378}"/>
              </a:ext>
            </a:extLst>
          </p:cNvPr>
          <p:cNvSpPr txBox="1"/>
          <p:nvPr/>
        </p:nvSpPr>
        <p:spPr>
          <a:xfrm>
            <a:off x="137160" y="1015663"/>
            <a:ext cx="6492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Example API Endpoints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33FCA2-4224-D04A-ACDF-A62EC27FF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036817"/>
              </p:ext>
            </p:extLst>
          </p:nvPr>
        </p:nvGraphicFramePr>
        <p:xfrm>
          <a:off x="137160" y="1776583"/>
          <a:ext cx="10119360" cy="3654921"/>
        </p:xfrm>
        <a:graphic>
          <a:graphicData uri="http://schemas.openxmlformats.org/drawingml/2006/table">
            <a:tbl>
              <a:tblPr/>
              <a:tblGrid>
                <a:gridCol w="3373120">
                  <a:extLst>
                    <a:ext uri="{9D8B030D-6E8A-4147-A177-3AD203B41FA5}">
                      <a16:colId xmlns:a16="http://schemas.microsoft.com/office/drawing/2014/main" val="4160617838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92180109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1693105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779123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/upload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Upload a PDF document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585754"/>
                  </a:ext>
                </a:extLst>
              </a:tr>
              <a:tr h="646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/embed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embeddings and update the FAISS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174220"/>
                  </a:ext>
                </a:extLst>
              </a:tr>
              <a:tr h="646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/retrieve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relevant document chunks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93127"/>
                  </a:ext>
                </a:extLst>
              </a:tr>
              <a:tr h="700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/ask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 RAG-based question answering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974237"/>
                  </a:ext>
                </a:extLst>
              </a:tr>
              <a:tr h="923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/agent-chat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Route questions through the Agent Orchestrator and generate intelligent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89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08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CBFBD-38B7-5985-A9F8-B6E1CBB2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0586C4D-B24A-CD55-7698-18DED1B0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00AED-EA19-ECC1-54FF-098A9C48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153"/>
            <a:ext cx="12771120" cy="77203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443DBC-F274-1AC5-4A2E-AE2D91E87AD0}"/>
              </a:ext>
            </a:extLst>
          </p:cNvPr>
          <p:cNvSpPr txBox="1"/>
          <p:nvPr/>
        </p:nvSpPr>
        <p:spPr>
          <a:xfrm>
            <a:off x="0" y="142673"/>
            <a:ext cx="123596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End-to-End Agentic RAG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User uploads a PDF document.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document is stored locally.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Text is extracted from the PDF.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text is split into chunks.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Embeddings are generated.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Embeddings are stored in the FAISS vector database.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user submits a question.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Agent Orchestrator selects the appropriate agent.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Retrieval Service finds the most relevant document chunks.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Prompt Builder creates the final RAG prompt.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Mock LLM (or Amazon Bedrock) generates the response.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The generated answer is returned to the user along with the relevant document sources.</a:t>
            </a:r>
          </a:p>
          <a:p>
            <a:pPr>
              <a:buNone/>
            </a:pP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5051E-EFBD-CE20-5517-7770A6EA330E}"/>
              </a:ext>
            </a:extLst>
          </p:cNvPr>
          <p:cNvSpPr txBox="1"/>
          <p:nvPr/>
        </p:nvSpPr>
        <p:spPr>
          <a:xfrm>
            <a:off x="320040" y="5212080"/>
            <a:ext cx="11506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USE_MOCK_LLM=true allows the project to be developed and tested locally without requiring Amazon Bedrock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USE_MOCK_LLM=false enables integration with Amazon Bedrock for production deployments.</a:t>
            </a:r>
          </a:p>
        </p:txBody>
      </p:sp>
    </p:spTree>
    <p:extLst>
      <p:ext uri="{BB962C8B-B14F-4D97-AF65-F5344CB8AC3E}">
        <p14:creationId xmlns:p14="http://schemas.microsoft.com/office/powerpoint/2010/main" val="154069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513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Navathej Annam</dc:creator>
  <cp:lastModifiedBy>Navathej Annam</cp:lastModifiedBy>
  <cp:revision>1</cp:revision>
  <dcterms:created xsi:type="dcterms:W3CDTF">2026-07-22T06:34:00Z</dcterms:created>
  <dcterms:modified xsi:type="dcterms:W3CDTF">2026-07-22T07:08:16Z</dcterms:modified>
</cp:coreProperties>
</file>